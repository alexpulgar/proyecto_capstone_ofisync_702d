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F89A65-45E3-44EF-9025-788264927C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416A50-170F-4F8A-A135-BECA50061B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1D51A5-27BF-48A3-AE21-53E5B652F3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F60CE0-6169-4852-91DD-C1B1CD202E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80997B0-1272-4A2E-8678-6E6FBC5B54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90F94AE-BD41-4BF9-9C21-80FE89EC1D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040C462-FA6B-4EC6-8281-BD0D82A36E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873446-9928-4B44-84B6-3E50B513EA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3D5DF5E-B967-48EC-93C9-6B419EB65F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286FAC8-7BF4-46B6-9A7A-076B406BC2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8663B39-1077-4E79-A14E-FB4F7D62DF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16DB91-115D-48D9-865D-DE0936F9D8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F8CEF1-4BC6-4555-80D3-10D1B38986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B5E88-472F-4BC3-8B12-CC18795CCC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16B02A-BD92-4D68-925C-D6C2CAE1D3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013AE4-2935-46AE-ABE9-BAC9554CBC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D1F7E5-D4C6-4BD4-BEA2-C2BE1EEB90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05293-9F12-43FB-AE54-08DF1A6F8D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C9D3C5-BDE0-4A32-8B4F-91DD88207D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12652-D6CB-4E9E-93EA-124D2BCD7A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AE1D9-0F4C-4DEB-B248-11BE5700B2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85A629-D834-484D-9533-923F40B800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C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main.d1kis61c0mtqwg.amplifyapp.com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 rot="19701600">
            <a:off x="12872160" y="-2776320"/>
            <a:ext cx="8773920" cy="8795880"/>
          </a:xfrm>
          <a:custGeom>
            <a:avLst/>
            <a:gdLst>
              <a:gd name="textAreaLeft" fmla="*/ 0 w 8773920"/>
              <a:gd name="textAreaRight" fmla="*/ 8774280 w 8773920"/>
              <a:gd name="textAreaTop" fmla="*/ 0 h 8795880"/>
              <a:gd name="textAreaBottom" fmla="*/ 8796240 h 8795880"/>
            </a:gdLst>
            <a:ahLst/>
            <a:rect l="textAreaLeft" t="textAreaTop" r="textAreaRight" b="textAreaBottom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" name="Group 3"/>
          <p:cNvGrpSpPr/>
          <p:nvPr/>
        </p:nvGrpSpPr>
        <p:grpSpPr>
          <a:xfrm>
            <a:off x="10463760" y="1621440"/>
            <a:ext cx="753120" cy="753120"/>
            <a:chOff x="10463760" y="1621440"/>
            <a:chExt cx="753120" cy="753120"/>
          </a:xfrm>
        </p:grpSpPr>
        <p:sp>
          <p:nvSpPr>
            <p:cNvPr id="69" name="Freeform 4"/>
            <p:cNvSpPr/>
            <p:nvPr/>
          </p:nvSpPr>
          <p:spPr>
            <a:xfrm>
              <a:off x="10463760" y="1621440"/>
              <a:ext cx="753120" cy="753120"/>
            </a:xfrm>
            <a:custGeom>
              <a:avLst/>
              <a:gdLst>
                <a:gd name="textAreaLeft" fmla="*/ 0 w 753120"/>
                <a:gd name="textAreaRight" fmla="*/ 753480 w 753120"/>
                <a:gd name="textAreaTop" fmla="*/ 0 h 753120"/>
                <a:gd name="textAreaBottom" fmla="*/ 753480 h 7531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10534320" y="1657080"/>
              <a:ext cx="612000" cy="64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14778720" y="7667280"/>
            <a:ext cx="1578600" cy="1578600"/>
            <a:chOff x="14778720" y="7667280"/>
            <a:chExt cx="1578600" cy="1578600"/>
          </a:xfrm>
        </p:grpSpPr>
        <p:sp>
          <p:nvSpPr>
            <p:cNvPr id="72" name="Freeform 7"/>
            <p:cNvSpPr/>
            <p:nvPr/>
          </p:nvSpPr>
          <p:spPr>
            <a:xfrm>
              <a:off x="14778720" y="7667280"/>
              <a:ext cx="1578600" cy="1578600"/>
            </a:xfrm>
            <a:custGeom>
              <a:avLst/>
              <a:gdLst>
                <a:gd name="textAreaLeft" fmla="*/ 0 w 1578600"/>
                <a:gd name="textAreaRight" fmla="*/ 1578960 w 1578600"/>
                <a:gd name="textAreaTop" fmla="*/ 0 h 1578600"/>
                <a:gd name="textAreaBottom" fmla="*/ 1578960 h 15786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TextBox 8"/>
            <p:cNvSpPr/>
            <p:nvPr/>
          </p:nvSpPr>
          <p:spPr>
            <a:xfrm>
              <a:off x="14926680" y="7741440"/>
              <a:ext cx="1282680" cy="13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4" name="Freeform 9"/>
          <p:cNvSpPr/>
          <p:nvPr/>
        </p:nvSpPr>
        <p:spPr>
          <a:xfrm>
            <a:off x="2736360" y="5419800"/>
            <a:ext cx="3306240" cy="3306240"/>
          </a:xfrm>
          <a:custGeom>
            <a:avLst/>
            <a:gdLst>
              <a:gd name="textAreaLeft" fmla="*/ 0 w 3306240"/>
              <a:gd name="textAreaRight" fmla="*/ 3306600 w 3306240"/>
              <a:gd name="textAreaTop" fmla="*/ 0 h 3306240"/>
              <a:gd name="textAreaBottom" fmla="*/ 3306600 h 3306240"/>
            </a:gdLst>
            <a:ahLst/>
            <a:rect l="textAreaLeft" t="textAreaTop" r="textAreaRight" b="textAreaBottom"/>
            <a:pathLst>
              <a:path w="3306554" h="3306554">
                <a:moveTo>
                  <a:pt x="0" y="0"/>
                </a:moveTo>
                <a:lnTo>
                  <a:pt x="3306554" y="0"/>
                </a:lnTo>
                <a:lnTo>
                  <a:pt x="3306554" y="3306554"/>
                </a:lnTo>
                <a:lnTo>
                  <a:pt x="0" y="330655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573560" y="1431000"/>
            <a:ext cx="10072080" cy="35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867"/>
              </a:lnSpc>
            </a:pPr>
            <a:r>
              <a:rPr b="1" lang="en-US" sz="9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Proyecto Ofisync</a:t>
            </a:r>
            <a:endParaRPr b="0" lang="es-CL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AutoShape 11"/>
          <p:cNvSpPr/>
          <p:nvPr/>
        </p:nvSpPr>
        <p:spPr>
          <a:xfrm flipV="1">
            <a:off x="1573560" y="5143320"/>
            <a:ext cx="5770080" cy="190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 anchorCtr="1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2"/>
          <p:cNvSpPr/>
          <p:nvPr/>
        </p:nvSpPr>
        <p:spPr>
          <a:xfrm rot="19701600">
            <a:off x="14393520" y="-454896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Freeform 3"/>
          <p:cNvSpPr/>
          <p:nvPr/>
        </p:nvSpPr>
        <p:spPr>
          <a:xfrm rot="19701600">
            <a:off x="-3087000" y="744120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9" name="Group 4"/>
          <p:cNvGrpSpPr/>
          <p:nvPr/>
        </p:nvGrpSpPr>
        <p:grpSpPr>
          <a:xfrm>
            <a:off x="-1181520" y="2134800"/>
            <a:ext cx="20498400" cy="6581880"/>
            <a:chOff x="-1181520" y="2134800"/>
            <a:chExt cx="20498400" cy="6581880"/>
          </a:xfrm>
        </p:grpSpPr>
        <p:sp>
          <p:nvSpPr>
            <p:cNvPr id="80" name="Freeform 5"/>
            <p:cNvSpPr/>
            <p:nvPr/>
          </p:nvSpPr>
          <p:spPr>
            <a:xfrm>
              <a:off x="-1181520" y="2315880"/>
              <a:ext cx="20498400" cy="6400800"/>
            </a:xfrm>
            <a:custGeom>
              <a:avLst/>
              <a:gdLst>
                <a:gd name="textAreaLeft" fmla="*/ 0 w 20498400"/>
                <a:gd name="textAreaRight" fmla="*/ 20498760 w 20498400"/>
                <a:gd name="textAreaTop" fmla="*/ 0 h 6400800"/>
                <a:gd name="textAreaBottom" fmla="*/ 6401160 h 6400800"/>
              </a:gdLst>
              <a:ahLst/>
              <a:rect l="textAreaLeft" t="textAreaTop" r="textAreaRight" b="textAreaBottom"/>
              <a:pathLst>
                <a:path w="5398820" h="1685859">
                  <a:moveTo>
                    <a:pt x="0" y="0"/>
                  </a:moveTo>
                  <a:lnTo>
                    <a:pt x="5398820" y="0"/>
                  </a:lnTo>
                  <a:lnTo>
                    <a:pt x="5398820" y="1685859"/>
                  </a:lnTo>
                  <a:lnTo>
                    <a:pt x="0" y="168585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6"/>
            <p:cNvSpPr/>
            <p:nvPr/>
          </p:nvSpPr>
          <p:spPr>
            <a:xfrm>
              <a:off x="-1181520" y="2134800"/>
              <a:ext cx="20498400" cy="658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364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2" name="Group 7"/>
          <p:cNvGrpSpPr/>
          <p:nvPr/>
        </p:nvGrpSpPr>
        <p:grpSpPr>
          <a:xfrm>
            <a:off x="2786400" y="2996280"/>
            <a:ext cx="3461400" cy="741960"/>
            <a:chOff x="2786400" y="2996280"/>
            <a:chExt cx="3461400" cy="741960"/>
          </a:xfrm>
        </p:grpSpPr>
        <p:sp>
          <p:nvSpPr>
            <p:cNvPr id="83" name="Freeform 8"/>
            <p:cNvSpPr/>
            <p:nvPr/>
          </p:nvSpPr>
          <p:spPr>
            <a:xfrm>
              <a:off x="2786400" y="3150720"/>
              <a:ext cx="3461400" cy="587520"/>
            </a:xfrm>
            <a:custGeom>
              <a:avLst/>
              <a:gdLst>
                <a:gd name="textAreaLeft" fmla="*/ 0 w 3461400"/>
                <a:gd name="textAreaRight" fmla="*/ 3461760 w 3461400"/>
                <a:gd name="textAreaTop" fmla="*/ 0 h 587520"/>
                <a:gd name="textAreaBottom" fmla="*/ 587880 h 587520"/>
              </a:gdLst>
              <a:ahLst/>
              <a:rect l="textAreaLeft" t="textAreaTop" r="textAreaRight" b="textAreaBottom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TextBox 9"/>
            <p:cNvSpPr/>
            <p:nvPr/>
          </p:nvSpPr>
          <p:spPr>
            <a:xfrm>
              <a:off x="2786400" y="2996280"/>
              <a:ext cx="3461400" cy="74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220"/>
                </a:lnSpc>
              </a:pPr>
              <a:r>
                <a:rPr b="1" lang="en-US" sz="2300" spc="-1" strike="noStrike">
                  <a:solidFill>
                    <a:srgbClr val="ffffff"/>
                  </a:solidFill>
                  <a:latin typeface="Montserrat Bold"/>
                  <a:ea typeface="Montserrat Bold"/>
                </a:rPr>
                <a:t>Alexander Pulgar</a:t>
              </a:r>
              <a:endParaRPr b="0" lang="es-CL" sz="23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5" name="Group 10"/>
          <p:cNvGrpSpPr/>
          <p:nvPr/>
        </p:nvGrpSpPr>
        <p:grpSpPr>
          <a:xfrm>
            <a:off x="7255080" y="2996280"/>
            <a:ext cx="3461400" cy="741960"/>
            <a:chOff x="7255080" y="2996280"/>
            <a:chExt cx="3461400" cy="741960"/>
          </a:xfrm>
        </p:grpSpPr>
        <p:sp>
          <p:nvSpPr>
            <p:cNvPr id="86" name="Freeform 11"/>
            <p:cNvSpPr/>
            <p:nvPr/>
          </p:nvSpPr>
          <p:spPr>
            <a:xfrm>
              <a:off x="7255080" y="3150720"/>
              <a:ext cx="3461400" cy="587520"/>
            </a:xfrm>
            <a:custGeom>
              <a:avLst/>
              <a:gdLst>
                <a:gd name="textAreaLeft" fmla="*/ 0 w 3461400"/>
                <a:gd name="textAreaRight" fmla="*/ 3461760 w 3461400"/>
                <a:gd name="textAreaTop" fmla="*/ 0 h 587520"/>
                <a:gd name="textAreaBottom" fmla="*/ 587880 h 587520"/>
              </a:gdLst>
              <a:ahLst/>
              <a:rect l="textAreaLeft" t="textAreaTop" r="textAreaRight" b="textAreaBottom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TextBox 12"/>
            <p:cNvSpPr/>
            <p:nvPr/>
          </p:nvSpPr>
          <p:spPr>
            <a:xfrm>
              <a:off x="7255080" y="2996280"/>
              <a:ext cx="3461400" cy="74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220"/>
                </a:lnSpc>
              </a:pPr>
              <a:r>
                <a:rPr b="1" lang="en-US" sz="2300" spc="-1" strike="noStrike">
                  <a:solidFill>
                    <a:srgbClr val="ffffff"/>
                  </a:solidFill>
                  <a:latin typeface="Montserrat Bold"/>
                  <a:ea typeface="Montserrat Bold"/>
                </a:rPr>
                <a:t>John Herrera</a:t>
              </a:r>
              <a:endParaRPr b="0" lang="es-CL" sz="23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8" name="Group 13"/>
          <p:cNvGrpSpPr/>
          <p:nvPr/>
        </p:nvGrpSpPr>
        <p:grpSpPr>
          <a:xfrm>
            <a:off x="11726640" y="2996280"/>
            <a:ext cx="3461400" cy="741960"/>
            <a:chOff x="11726640" y="2996280"/>
            <a:chExt cx="3461400" cy="741960"/>
          </a:xfrm>
        </p:grpSpPr>
        <p:sp>
          <p:nvSpPr>
            <p:cNvPr id="89" name="Freeform 14"/>
            <p:cNvSpPr/>
            <p:nvPr/>
          </p:nvSpPr>
          <p:spPr>
            <a:xfrm>
              <a:off x="11726640" y="3150720"/>
              <a:ext cx="3461400" cy="587520"/>
            </a:xfrm>
            <a:custGeom>
              <a:avLst/>
              <a:gdLst>
                <a:gd name="textAreaLeft" fmla="*/ 0 w 3461400"/>
                <a:gd name="textAreaRight" fmla="*/ 3461760 w 3461400"/>
                <a:gd name="textAreaTop" fmla="*/ 0 h 587520"/>
                <a:gd name="textAreaBottom" fmla="*/ 587880 h 587520"/>
              </a:gdLst>
              <a:ahLst/>
              <a:rect l="textAreaLeft" t="textAreaTop" r="textAreaRight" b="textAreaBottom"/>
              <a:pathLst>
                <a:path w="1066152" h="181026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TextBox 15"/>
            <p:cNvSpPr/>
            <p:nvPr/>
          </p:nvSpPr>
          <p:spPr>
            <a:xfrm>
              <a:off x="11726640" y="2996280"/>
              <a:ext cx="3461400" cy="74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220"/>
                </a:lnSpc>
              </a:pPr>
              <a:r>
                <a:rPr b="1" lang="en-US" sz="2300" spc="-1" strike="noStrike">
                  <a:solidFill>
                    <a:srgbClr val="ffffff"/>
                  </a:solidFill>
                  <a:latin typeface="Montserrat Bold"/>
                  <a:ea typeface="Montserrat Bold"/>
                </a:rPr>
                <a:t>Erick San Martín</a:t>
              </a:r>
              <a:endParaRPr b="0" lang="es-CL" sz="23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1" name="Freeform 16"/>
          <p:cNvSpPr/>
          <p:nvPr/>
        </p:nvSpPr>
        <p:spPr>
          <a:xfrm>
            <a:off x="488160" y="38808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6266160" y="605880"/>
            <a:ext cx="5755320" cy="11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807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Integrantes</a:t>
            </a:r>
            <a:endParaRPr b="0" lang="es-CL" sz="73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2786400" y="4172760"/>
            <a:ext cx="2924280" cy="26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Product Owner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Desarrollador App Móvil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QA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DBA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7393680" y="4172760"/>
            <a:ext cx="3184200" cy="26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Scrum Master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Desarrollador Web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QA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DBA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11926440" y="4172760"/>
            <a:ext cx="3061800" cy="31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Equipo de desarrollo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Desarrollador Web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QA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  <a:p>
            <a:pPr lvl="1" marL="516600" indent="-258480" algn="ctr" defTabSz="914400">
              <a:lnSpc>
                <a:spcPts val="414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Montserrat"/>
                <a:ea typeface="Montserrat"/>
              </a:rPr>
              <a:t>DBA</a:t>
            </a:r>
            <a:endParaRPr b="0" lang="es-CL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10511640" y="3711600"/>
            <a:ext cx="4508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b="1" lang="en-US" sz="249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Propuesta de solución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2130480" y="371160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Problemática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10511640" y="4404600"/>
            <a:ext cx="5845320" cy="33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45"/>
              </a:lnSpc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Ofisync: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Portal Web (Administración).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Aplicación Móvil (Inquilinos).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  <a:tabLst>
                <a:tab algn="l" pos="0"/>
              </a:tabLst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Procesos clave: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Cálculo de gastos comunes.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Reservas de servicios.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Inventario y Bitácora.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2130480" y="4414320"/>
            <a:ext cx="6298200" cy="34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6600" indent="-258480" defTabSz="914400">
              <a:lnSpc>
                <a:spcPts val="3351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01010"/>
                </a:solidFill>
                <a:latin typeface="Montserrat"/>
                <a:ea typeface="Montserrat"/>
              </a:rPr>
              <a:t>Gestión de edificios basada en procesos manuales.</a:t>
            </a:r>
            <a:endParaRPr b="0" lang="es-CL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51"/>
              </a:lnSpc>
              <a:tabLst>
                <a:tab algn="l" pos="0"/>
              </a:tabLst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51"/>
              </a:lnSpc>
              <a:tabLst>
                <a:tab algn="l" pos="0"/>
              </a:tabLst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51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01010"/>
                </a:solidFill>
                <a:latin typeface="Montserrat"/>
                <a:ea typeface="Montserrat"/>
              </a:rPr>
              <a:t>Consecuencias:</a:t>
            </a:r>
            <a:endParaRPr b="0" lang="es-CL" sz="2400" spc="-1" strike="noStrike">
              <a:solidFill>
                <a:srgbClr val="000000"/>
              </a:solidFill>
              <a:latin typeface="Arial"/>
            </a:endParaRPr>
          </a:p>
          <a:p>
            <a:pPr lvl="1" marL="516600" indent="-258480" defTabSz="914400">
              <a:lnSpc>
                <a:spcPts val="3351"/>
              </a:lnSpc>
              <a:buClr>
                <a:srgbClr val="10101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101010"/>
                </a:solidFill>
                <a:latin typeface="Montserrat"/>
                <a:ea typeface="Montserrat"/>
              </a:rPr>
              <a:t>Ineficiencias operativas.</a:t>
            </a:r>
            <a:endParaRPr b="0" lang="es-CL" sz="2400" spc="-1" strike="noStrike">
              <a:solidFill>
                <a:srgbClr val="000000"/>
              </a:solidFill>
              <a:latin typeface="Arial"/>
            </a:endParaRPr>
          </a:p>
          <a:p>
            <a:pPr lvl="1" marL="516600" indent="-258480" defTabSz="914400">
              <a:lnSpc>
                <a:spcPts val="3351"/>
              </a:lnSpc>
              <a:buClr>
                <a:srgbClr val="10101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101010"/>
                </a:solidFill>
                <a:latin typeface="Montserrat"/>
                <a:ea typeface="Montserrat"/>
              </a:rPr>
              <a:t>Errores en el cálculo de gastos comunes.</a:t>
            </a:r>
            <a:endParaRPr b="0" lang="es-CL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" name="Group 6"/>
          <p:cNvGrpSpPr/>
          <p:nvPr/>
        </p:nvGrpSpPr>
        <p:grpSpPr>
          <a:xfrm>
            <a:off x="0" y="-74160"/>
            <a:ext cx="18287640" cy="2371680"/>
            <a:chOff x="0" y="-74160"/>
            <a:chExt cx="18287640" cy="2371680"/>
          </a:xfrm>
        </p:grpSpPr>
        <p:sp>
          <p:nvSpPr>
            <p:cNvPr id="101" name="Freeform 7"/>
            <p:cNvSpPr/>
            <p:nvPr/>
          </p:nvSpPr>
          <p:spPr>
            <a:xfrm>
              <a:off x="0" y="0"/>
              <a:ext cx="18287640" cy="22975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97520"/>
                <a:gd name="textAreaBottom" fmla="*/ 2297880 h 2297520"/>
              </a:gdLst>
              <a:ahLst/>
              <a:rect l="textAreaLeft" t="textAreaTop" r="textAreaRight" b="textAreaBottom"/>
              <a:pathLst>
                <a:path w="9414331" h="1182865">
                  <a:moveTo>
                    <a:pt x="0" y="0"/>
                  </a:moveTo>
                  <a:lnTo>
                    <a:pt x="9414331" y="0"/>
                  </a:lnTo>
                  <a:lnTo>
                    <a:pt x="9414331" y="1182865"/>
                  </a:lnTo>
                  <a:lnTo>
                    <a:pt x="0" y="118286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TextBox 8"/>
            <p:cNvSpPr/>
            <p:nvPr/>
          </p:nvSpPr>
          <p:spPr>
            <a:xfrm>
              <a:off x="0" y="-74160"/>
              <a:ext cx="18287640" cy="23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3" name="AutoShape 9"/>
          <p:cNvSpPr/>
          <p:nvPr/>
        </p:nvSpPr>
        <p:spPr>
          <a:xfrm>
            <a:off x="9144000" y="3749400"/>
            <a:ext cx="360" cy="53053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6235920" y="456480"/>
            <a:ext cx="581580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Descripción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Freeform 11"/>
          <p:cNvSpPr/>
          <p:nvPr/>
        </p:nvSpPr>
        <p:spPr>
          <a:xfrm>
            <a:off x="579960" y="37368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1028880" y="3182400"/>
            <a:ext cx="4060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88"/>
              </a:lnSpc>
            </a:pPr>
            <a:r>
              <a:rPr b="1" lang="en-US" sz="249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Objetivo General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9567720" y="3182400"/>
            <a:ext cx="4060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988"/>
              </a:lnSpc>
            </a:pPr>
            <a:r>
              <a:rPr b="1" lang="en-US" sz="249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Objetivos Específicos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1028880" y="3821760"/>
            <a:ext cx="712728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algn="just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Modernizar y automatizar la gestión de edificios, optimizar recursos y mejorar la experiencia de usuario.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9" name="Group 5"/>
          <p:cNvGrpSpPr/>
          <p:nvPr/>
        </p:nvGrpSpPr>
        <p:grpSpPr>
          <a:xfrm>
            <a:off x="0" y="8843040"/>
            <a:ext cx="18287640" cy="1443600"/>
            <a:chOff x="0" y="8843040"/>
            <a:chExt cx="18287640" cy="1443600"/>
          </a:xfrm>
        </p:grpSpPr>
        <p:sp>
          <p:nvSpPr>
            <p:cNvPr id="110" name="Freeform 6"/>
            <p:cNvSpPr/>
            <p:nvPr/>
          </p:nvSpPr>
          <p:spPr>
            <a:xfrm>
              <a:off x="0" y="8993160"/>
              <a:ext cx="18287640" cy="129348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293480"/>
                <a:gd name="textAreaBottom" fmla="*/ 1293840 h 1293480"/>
              </a:gdLst>
              <a:ahLst/>
              <a:rect l="textAreaLeft" t="textAreaTop" r="textAreaRight" b="textAreaBottom"/>
              <a:pathLst>
                <a:path w="4633513" h="327783">
                  <a:moveTo>
                    <a:pt x="0" y="0"/>
                  </a:moveTo>
                  <a:lnTo>
                    <a:pt x="4633513" y="0"/>
                  </a:lnTo>
                  <a:lnTo>
                    <a:pt x="4633513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TextBox 7"/>
            <p:cNvSpPr/>
            <p:nvPr/>
          </p:nvSpPr>
          <p:spPr>
            <a:xfrm>
              <a:off x="0" y="8843040"/>
              <a:ext cx="18287640" cy="144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2" name="Group 8"/>
          <p:cNvGrpSpPr/>
          <p:nvPr/>
        </p:nvGrpSpPr>
        <p:grpSpPr>
          <a:xfrm>
            <a:off x="9360" y="-150480"/>
            <a:ext cx="18278280" cy="2481840"/>
            <a:chOff x="9360" y="-150480"/>
            <a:chExt cx="18278280" cy="2481840"/>
          </a:xfrm>
        </p:grpSpPr>
        <p:sp>
          <p:nvSpPr>
            <p:cNvPr id="113" name="Freeform 9"/>
            <p:cNvSpPr/>
            <p:nvPr/>
          </p:nvSpPr>
          <p:spPr>
            <a:xfrm>
              <a:off x="9360" y="0"/>
              <a:ext cx="18278280" cy="2331360"/>
            </a:xfrm>
            <a:custGeom>
              <a:avLst/>
              <a:gdLst>
                <a:gd name="textAreaLeft" fmla="*/ 0 w 18278280"/>
                <a:gd name="textAreaRight" fmla="*/ 18278640 w 18278280"/>
                <a:gd name="textAreaTop" fmla="*/ 0 h 2331360"/>
                <a:gd name="textAreaBottom" fmla="*/ 2331720 h 2331360"/>
              </a:gdLst>
              <a:ahLst/>
              <a:rect l="textAreaLeft" t="textAreaTop" r="textAreaRight" b="textAreaBottom"/>
              <a:pathLst>
                <a:path w="4631179" h="590789">
                  <a:moveTo>
                    <a:pt x="0" y="0"/>
                  </a:moveTo>
                  <a:lnTo>
                    <a:pt x="4631179" y="0"/>
                  </a:lnTo>
                  <a:lnTo>
                    <a:pt x="4631179" y="590789"/>
                  </a:lnTo>
                  <a:lnTo>
                    <a:pt x="0" y="590789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TextBox 10"/>
            <p:cNvSpPr/>
            <p:nvPr/>
          </p:nvSpPr>
          <p:spPr>
            <a:xfrm>
              <a:off x="9360" y="-150480"/>
              <a:ext cx="18278280" cy="248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5" name="TextBox 11"/>
          <p:cNvSpPr/>
          <p:nvPr/>
        </p:nvSpPr>
        <p:spPr>
          <a:xfrm>
            <a:off x="6809040" y="473400"/>
            <a:ext cx="466992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Objetivos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9567720" y="3821760"/>
            <a:ext cx="7127280" cy="42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algn="just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Automatizar el cálculo de gastos comunes.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algn="just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Mejorar la transparencia de la información de los inquilinos.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algn="just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Optimizar el trabajo de administradores, conserjes y personal de aseo.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algn="just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Sincronización en tiempo real entre plataformas.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Freeform 13"/>
          <p:cNvSpPr/>
          <p:nvPr/>
        </p:nvSpPr>
        <p:spPr>
          <a:xfrm>
            <a:off x="513000" y="3906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2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Alcance del proyecto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1362960" y="4433040"/>
            <a:ext cx="7110000" cy="25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Enfoque en 5 épicas priorizadas: Gastos, Reservas, Inventario, Bitácora y Autenticación.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Implementación de funcionalidades esenciales para la operación del sistema.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0" name="Group 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21" name="Freeform 5"/>
            <p:cNvSpPr/>
            <p:nvPr/>
          </p:nvSpPr>
          <p:spPr>
            <a:xfrm>
              <a:off x="0" y="0"/>
              <a:ext cx="18287640" cy="22629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62960"/>
                <a:gd name="textAreaBottom" fmla="*/ 2263320 h 2262960"/>
              </a:gdLst>
              <a:ahLst/>
              <a:rect l="textAreaLeft" t="textAreaTop" r="textAreaRight" b="textAreaBottom"/>
              <a:pathLst>
                <a:path w="9414331" h="1165105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TextBox 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3" name="TextBox 7"/>
          <p:cNvSpPr/>
          <p:nvPr/>
        </p:nvSpPr>
        <p:spPr>
          <a:xfrm>
            <a:off x="6917760" y="439200"/>
            <a:ext cx="445212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Alcances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Freeform 8"/>
          <p:cNvSpPr/>
          <p:nvPr/>
        </p:nvSpPr>
        <p:spPr>
          <a:xfrm>
            <a:off x="587880" y="3564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9162720" y="3321360"/>
            <a:ext cx="360" cy="52192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10149120" y="4433040"/>
            <a:ext cx="7110000" cy="38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Cálculo y gestión de gastos comunes.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Inventario con operaciones CRUD.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Gestión de reservas y validación de pagos.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Bitácora digital para registro de eventos y control de acceso.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1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Portal Web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2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Aplicación Móvil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362960" y="4433040"/>
            <a:ext cx="7110000" cy="38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Consulta de gastos comunes, deuda y estado de pagos.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Carga de comprobantes de pago (imagen/PDF).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Reserva de servicios y espacios comunes en tiempo real.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31" name="Freeform 5"/>
            <p:cNvSpPr/>
            <p:nvPr/>
          </p:nvSpPr>
          <p:spPr>
            <a:xfrm>
              <a:off x="0" y="0"/>
              <a:ext cx="18287640" cy="22629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62960"/>
                <a:gd name="textAreaBottom" fmla="*/ 2263320 h 2262960"/>
              </a:gdLst>
              <a:ahLst/>
              <a:rect l="textAreaLeft" t="textAreaTop" r="textAreaRight" b="textAreaBottom"/>
              <a:pathLst>
                <a:path w="9414331" h="1165105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TextBox 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3" name="TextBox 7"/>
          <p:cNvSpPr/>
          <p:nvPr/>
        </p:nvSpPr>
        <p:spPr>
          <a:xfrm>
            <a:off x="6917760" y="439200"/>
            <a:ext cx="445212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Alcances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Freeform 8"/>
          <p:cNvSpPr/>
          <p:nvPr/>
        </p:nvSpPr>
        <p:spPr>
          <a:xfrm>
            <a:off x="587880" y="3564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AutoShape 9"/>
          <p:cNvSpPr/>
          <p:nvPr/>
        </p:nvSpPr>
        <p:spPr>
          <a:xfrm>
            <a:off x="9144000" y="3321360"/>
            <a:ext cx="360" cy="52192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10149120" y="4433040"/>
            <a:ext cx="7110000" cy="25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Base de datos basada en PostgreSQL centralizada.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Sincronización en tiempo real entre portal web y aplicación móvil.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Infraestructura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2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Funcionales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362960" y="4433040"/>
            <a:ext cx="7110000" cy="38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El desarrollo se limita a las 5 épicas priorizadas del Product Backlog.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No se incluyen funcionalidades fuera del alcance definido.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La carga inicial de datos (usuarios, oficinas) queda a cargo de la administración.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0" name="Group 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41" name="Freeform 5"/>
            <p:cNvSpPr/>
            <p:nvPr/>
          </p:nvSpPr>
          <p:spPr>
            <a:xfrm>
              <a:off x="0" y="0"/>
              <a:ext cx="18287640" cy="22629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62960"/>
                <a:gd name="textAreaBottom" fmla="*/ 2263320 h 2262960"/>
              </a:gdLst>
              <a:ahLst/>
              <a:rect l="textAreaLeft" t="textAreaTop" r="textAreaRight" b="textAreaBottom"/>
              <a:pathLst>
                <a:path w="9414331" h="1165105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TextBox 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3" name="TextBox 7"/>
          <p:cNvSpPr/>
          <p:nvPr/>
        </p:nvSpPr>
        <p:spPr>
          <a:xfrm>
            <a:off x="6008400" y="439200"/>
            <a:ext cx="627048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Limitaciones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Freeform 8"/>
          <p:cNvSpPr/>
          <p:nvPr/>
        </p:nvSpPr>
        <p:spPr>
          <a:xfrm>
            <a:off x="587880" y="3564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AutoShape 9"/>
          <p:cNvSpPr/>
          <p:nvPr/>
        </p:nvSpPr>
        <p:spPr>
          <a:xfrm>
            <a:off x="9162720" y="3321360"/>
            <a:ext cx="9720" cy="53686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10149120" y="4433040"/>
            <a:ext cx="7110000" cy="25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No se integra WebPay, Transbank ni otras pasarelas de pago.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Validación de pagos únicamente mediante comprobantes manuales.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Módulo de pagos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reeform 2"/>
          <p:cNvSpPr/>
          <p:nvPr/>
        </p:nvSpPr>
        <p:spPr>
          <a:xfrm>
            <a:off x="2138400" y="3108600"/>
            <a:ext cx="5509440" cy="5509440"/>
          </a:xfrm>
          <a:custGeom>
            <a:avLst/>
            <a:gdLst>
              <a:gd name="textAreaLeft" fmla="*/ 0 w 5509440"/>
              <a:gd name="textAreaRight" fmla="*/ 5509800 w 5509440"/>
              <a:gd name="textAreaTop" fmla="*/ 0 h 5509440"/>
              <a:gd name="textAreaBottom" fmla="*/ 5509800 h 5509440"/>
            </a:gdLst>
            <a:ahLst/>
            <a:rect l="textAreaLeft" t="textAreaTop" r="textAreaRight" b="textAreaBottom"/>
            <a:pathLst>
              <a:path w="5509791" h="5509791">
                <a:moveTo>
                  <a:pt x="0" y="0"/>
                </a:moveTo>
                <a:lnTo>
                  <a:pt x="5509791" y="0"/>
                </a:lnTo>
                <a:lnTo>
                  <a:pt x="5509791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Freeform 3"/>
          <p:cNvSpPr/>
          <p:nvPr/>
        </p:nvSpPr>
        <p:spPr>
          <a:xfrm>
            <a:off x="9144000" y="3479760"/>
            <a:ext cx="8474760" cy="4766760"/>
          </a:xfrm>
          <a:custGeom>
            <a:avLst/>
            <a:gdLst>
              <a:gd name="textAreaLeft" fmla="*/ 0 w 8474760"/>
              <a:gd name="textAreaRight" fmla="*/ 8475120 w 8474760"/>
              <a:gd name="textAreaTop" fmla="*/ 0 h 4766760"/>
              <a:gd name="textAreaBottom" fmla="*/ 4767120 h 4766760"/>
            </a:gdLst>
            <a:ahLst/>
            <a:rect l="textAreaLeft" t="textAreaTop" r="textAreaRight" b="textAreaBottom"/>
            <a:pathLst>
              <a:path w="8475169" h="4767283">
                <a:moveTo>
                  <a:pt x="0" y="0"/>
                </a:moveTo>
                <a:lnTo>
                  <a:pt x="8475169" y="0"/>
                </a:lnTo>
                <a:lnTo>
                  <a:pt x="8475169" y="4767283"/>
                </a:lnTo>
                <a:lnTo>
                  <a:pt x="0" y="47672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0" name="Group 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51" name="Freeform 5"/>
            <p:cNvSpPr/>
            <p:nvPr/>
          </p:nvSpPr>
          <p:spPr>
            <a:xfrm>
              <a:off x="0" y="0"/>
              <a:ext cx="18287640" cy="22629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62960"/>
                <a:gd name="textAreaBottom" fmla="*/ 2263320 h 2262960"/>
              </a:gdLst>
              <a:ahLst/>
              <a:rect l="textAreaLeft" t="textAreaTop" r="textAreaRight" b="textAreaBottom"/>
              <a:pathLst>
                <a:path w="9414331" h="1165105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TextBox 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3" name="TextBox 7"/>
          <p:cNvSpPr/>
          <p:nvPr/>
        </p:nvSpPr>
        <p:spPr>
          <a:xfrm>
            <a:off x="6008400" y="439200"/>
            <a:ext cx="627048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Metodología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Freeform 8"/>
          <p:cNvSpPr/>
          <p:nvPr/>
        </p:nvSpPr>
        <p:spPr>
          <a:xfrm>
            <a:off x="587880" y="3564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reeform 2"/>
          <p:cNvSpPr/>
          <p:nvPr/>
        </p:nvSpPr>
        <p:spPr>
          <a:xfrm>
            <a:off x="209880" y="2102400"/>
            <a:ext cx="17867880" cy="6082200"/>
          </a:xfrm>
          <a:custGeom>
            <a:avLst/>
            <a:gdLst>
              <a:gd name="textAreaLeft" fmla="*/ 0 w 17867880"/>
              <a:gd name="textAreaRight" fmla="*/ 17868240 w 17867880"/>
              <a:gd name="textAreaTop" fmla="*/ 0 h 6082200"/>
              <a:gd name="textAreaBottom" fmla="*/ 6082560 h 6082200"/>
            </a:gdLst>
            <a:ahLst/>
            <a:rect l="textAreaLeft" t="textAreaTop" r="textAreaRight" b="textAreaBottom"/>
            <a:pathLst>
              <a:path w="17868191" h="6082478">
                <a:moveTo>
                  <a:pt x="0" y="0"/>
                </a:moveTo>
                <a:lnTo>
                  <a:pt x="17868192" y="0"/>
                </a:lnTo>
                <a:lnTo>
                  <a:pt x="17868192" y="6082478"/>
                </a:lnTo>
                <a:lnTo>
                  <a:pt x="0" y="6082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6739200" y="461880"/>
            <a:ext cx="48096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929"/>
              </a:lnSpc>
              <a:tabLst>
                <a:tab algn="l" pos="0"/>
              </a:tabLst>
            </a:pPr>
            <a:r>
              <a:rPr b="1" lang="en-US" sz="74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Roadmap</a:t>
            </a:r>
            <a:endParaRPr b="0" lang="es-CL" sz="744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reeform 2"/>
          <p:cNvSpPr/>
          <p:nvPr/>
        </p:nvSpPr>
        <p:spPr>
          <a:xfrm>
            <a:off x="3000600" y="2414880"/>
            <a:ext cx="12286080" cy="5456880"/>
          </a:xfrm>
          <a:custGeom>
            <a:avLst/>
            <a:gdLst>
              <a:gd name="textAreaLeft" fmla="*/ 0 w 12286080"/>
              <a:gd name="textAreaRight" fmla="*/ 12286440 w 12286080"/>
              <a:gd name="textAreaTop" fmla="*/ 0 h 5456880"/>
              <a:gd name="textAreaBottom" fmla="*/ 5457240 h 5456880"/>
            </a:gdLst>
            <a:ahLst/>
            <a:rect l="textAreaLeft" t="textAreaTop" r="textAreaRight" b="textAreaBottom"/>
            <a:pathLst>
              <a:path w="12286619" h="5457205">
                <a:moveTo>
                  <a:pt x="0" y="0"/>
                </a:moveTo>
                <a:lnTo>
                  <a:pt x="12286618" y="0"/>
                </a:lnTo>
                <a:lnTo>
                  <a:pt x="12286618" y="5457206"/>
                </a:lnTo>
                <a:lnTo>
                  <a:pt x="0" y="54572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6751440" y="461880"/>
            <a:ext cx="47844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929"/>
              </a:lnSpc>
              <a:tabLst>
                <a:tab algn="l" pos="0"/>
              </a:tabLst>
            </a:pPr>
            <a:r>
              <a:rPr b="1" lang="en-US" sz="74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Roadmap</a:t>
            </a:r>
            <a:endParaRPr b="0" lang="es-CL" sz="744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2"/>
          <p:cNvSpPr/>
          <p:nvPr/>
        </p:nvSpPr>
        <p:spPr>
          <a:xfrm rot="19701600">
            <a:off x="14904720" y="-473112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Freeform 3"/>
          <p:cNvSpPr/>
          <p:nvPr/>
        </p:nvSpPr>
        <p:spPr>
          <a:xfrm rot="1734600">
            <a:off x="-3196440" y="7742880"/>
            <a:ext cx="7347600" cy="7365960"/>
          </a:xfrm>
          <a:custGeom>
            <a:avLst/>
            <a:gdLst>
              <a:gd name="textAreaLeft" fmla="*/ 0 w 7347600"/>
              <a:gd name="textAreaRight" fmla="*/ 7347960 w 7347600"/>
              <a:gd name="textAreaTop" fmla="*/ 0 h 7365960"/>
              <a:gd name="textAreaBottom" fmla="*/ 7366320 h 7365960"/>
            </a:gdLst>
            <a:ahLst/>
            <a:rect l="textAreaLeft" t="textAreaTop" r="textAreaRight" b="textAreaBottom"/>
            <a:pathLst>
              <a:path w="7347813" h="7366228">
                <a:moveTo>
                  <a:pt x="0" y="0"/>
                </a:moveTo>
                <a:lnTo>
                  <a:pt x="7347813" y="0"/>
                </a:lnTo>
                <a:lnTo>
                  <a:pt x="7347813" y="7366228"/>
                </a:lnTo>
                <a:lnTo>
                  <a:pt x="0" y="73662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Freeform 4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reeform 2"/>
          <p:cNvSpPr/>
          <p:nvPr/>
        </p:nvSpPr>
        <p:spPr>
          <a:xfrm>
            <a:off x="4898520" y="0"/>
            <a:ext cx="13389120" cy="10286640"/>
          </a:xfrm>
          <a:custGeom>
            <a:avLst/>
            <a:gdLst>
              <a:gd name="textAreaLeft" fmla="*/ 0 w 13389120"/>
              <a:gd name="textAreaRight" fmla="*/ 13389480 w 1338912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3389306" h="10287000">
                <a:moveTo>
                  <a:pt x="0" y="0"/>
                </a:moveTo>
                <a:lnTo>
                  <a:pt x="13389306" y="0"/>
                </a:lnTo>
                <a:lnTo>
                  <a:pt x="133893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113760" y="4010040"/>
            <a:ext cx="4784400" cy="22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929"/>
              </a:lnSpc>
              <a:tabLst>
                <a:tab algn="l" pos="0"/>
              </a:tabLst>
            </a:pPr>
            <a:r>
              <a:rPr b="1" lang="en-US" sz="74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Modelo de datos</a:t>
            </a:r>
            <a:endParaRPr b="0" lang="es-CL" sz="744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2"/>
          <p:cNvSpPr/>
          <p:nvPr/>
        </p:nvSpPr>
        <p:spPr>
          <a:xfrm>
            <a:off x="1362960" y="3283560"/>
            <a:ext cx="37112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Infraestructura física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1362960" y="3899160"/>
            <a:ext cx="359712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Edificio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Piso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Oficina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" name="Group 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67" name="Freeform 5"/>
            <p:cNvSpPr/>
            <p:nvPr/>
          </p:nvSpPr>
          <p:spPr>
            <a:xfrm>
              <a:off x="0" y="0"/>
              <a:ext cx="18287640" cy="226296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2262960"/>
                <a:gd name="textAreaBottom" fmla="*/ 2263320 h 2262960"/>
              </a:gdLst>
              <a:ahLst/>
              <a:rect l="textAreaLeft" t="textAreaTop" r="textAreaRight" b="textAreaBottom"/>
              <a:pathLst>
                <a:path w="9414331" h="1165105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TextBox 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9" name="TextBox 7"/>
          <p:cNvSpPr/>
          <p:nvPr/>
        </p:nvSpPr>
        <p:spPr>
          <a:xfrm>
            <a:off x="5074560" y="439200"/>
            <a:ext cx="813852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76"/>
              </a:lnSpc>
              <a:tabLst>
                <a:tab algn="l" pos="0"/>
              </a:tabLst>
            </a:pPr>
            <a:r>
              <a:rPr b="1" lang="en-US" sz="734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Modelo de datos</a:t>
            </a:r>
            <a:endParaRPr b="0" lang="es-CL" sz="7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Freeform 8"/>
          <p:cNvSpPr/>
          <p:nvPr/>
        </p:nvSpPr>
        <p:spPr>
          <a:xfrm>
            <a:off x="587880" y="356400"/>
            <a:ext cx="1550160" cy="1550160"/>
          </a:xfrm>
          <a:custGeom>
            <a:avLst/>
            <a:gdLst>
              <a:gd name="textAreaLeft" fmla="*/ 0 w 1550160"/>
              <a:gd name="textAreaRight" fmla="*/ 1550520 w 1550160"/>
              <a:gd name="textAreaTop" fmla="*/ 0 h 1550160"/>
              <a:gd name="textAreaBottom" fmla="*/ 1550520 h 1550160"/>
            </a:gdLst>
            <a:ahLst/>
            <a:rect l="textAreaLeft" t="textAreaTop" r="textAreaRight" b="textAreaBottom"/>
            <a:pathLst>
              <a:path w="1550532" h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1362960" y="5669640"/>
            <a:ext cx="37112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Personas y seguridad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0"/>
          <p:cNvSpPr/>
          <p:nvPr/>
        </p:nvSpPr>
        <p:spPr>
          <a:xfrm>
            <a:off x="1362960" y="6285240"/>
            <a:ext cx="359712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Persona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Usuarios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Bitacora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1"/>
          <p:cNvSpPr/>
          <p:nvPr/>
        </p:nvSpPr>
        <p:spPr>
          <a:xfrm>
            <a:off x="7288200" y="3283560"/>
            <a:ext cx="37112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Servicios y reservas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2"/>
          <p:cNvSpPr/>
          <p:nvPr/>
        </p:nvSpPr>
        <p:spPr>
          <a:xfrm>
            <a:off x="7288200" y="3899160"/>
            <a:ext cx="359712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Servicios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Reservas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7174440" y="5743440"/>
            <a:ext cx="37112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Financieras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4"/>
          <p:cNvSpPr/>
          <p:nvPr/>
        </p:nvSpPr>
        <p:spPr>
          <a:xfrm>
            <a:off x="7174440" y="6359400"/>
            <a:ext cx="371124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GastoComun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DetalleGastoComun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5"/>
          <p:cNvSpPr/>
          <p:nvPr/>
        </p:nvSpPr>
        <p:spPr>
          <a:xfrm>
            <a:off x="13209480" y="3283560"/>
            <a:ext cx="37112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9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101010"/>
                </a:solidFill>
                <a:latin typeface="Montserrat Bold"/>
                <a:ea typeface="Montserrat Bold"/>
              </a:rPr>
              <a:t>Inventario</a:t>
            </a:r>
            <a:endParaRPr b="0" lang="es-CL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6"/>
          <p:cNvSpPr/>
          <p:nvPr/>
        </p:nvSpPr>
        <p:spPr>
          <a:xfrm>
            <a:off x="13209480" y="3899160"/>
            <a:ext cx="359712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5880" indent="-258120" defTabSz="914400">
              <a:lnSpc>
                <a:spcPts val="3345"/>
              </a:lnSpc>
              <a:buClr>
                <a:srgbClr val="101010"/>
              </a:buClr>
              <a:buFont typeface="Arial"/>
              <a:buChar char="•"/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Insumos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45"/>
              </a:lnSpc>
            </a:pPr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2"/>
          <p:cNvSpPr/>
          <p:nvPr/>
        </p:nvSpPr>
        <p:spPr>
          <a:xfrm rot="19701600">
            <a:off x="14393520" y="-454896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Freeform 3"/>
          <p:cNvSpPr/>
          <p:nvPr/>
        </p:nvSpPr>
        <p:spPr>
          <a:xfrm>
            <a:off x="13062960" y="2280600"/>
            <a:ext cx="4195800" cy="2076120"/>
          </a:xfrm>
          <a:custGeom>
            <a:avLst/>
            <a:gdLst>
              <a:gd name="textAreaLeft" fmla="*/ 0 w 4195800"/>
              <a:gd name="textAreaRight" fmla="*/ 4196160 w 4195800"/>
              <a:gd name="textAreaTop" fmla="*/ 0 h 2076120"/>
              <a:gd name="textAreaBottom" fmla="*/ 2076480 h 2076120"/>
            </a:gdLst>
            <a:ahLst/>
            <a:rect l="textAreaLeft" t="textAreaTop" r="textAreaRight" b="textAreaBottom"/>
            <a:pathLst>
              <a:path w="4196162" h="2076420">
                <a:moveTo>
                  <a:pt x="0" y="0"/>
                </a:moveTo>
                <a:lnTo>
                  <a:pt x="4196162" y="0"/>
                </a:lnTo>
                <a:lnTo>
                  <a:pt x="4196162" y="2076420"/>
                </a:lnTo>
                <a:lnTo>
                  <a:pt x="0" y="20764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Freeform 4"/>
          <p:cNvSpPr/>
          <p:nvPr/>
        </p:nvSpPr>
        <p:spPr>
          <a:xfrm>
            <a:off x="1028880" y="2285280"/>
            <a:ext cx="4256280" cy="2124720"/>
          </a:xfrm>
          <a:custGeom>
            <a:avLst/>
            <a:gdLst>
              <a:gd name="textAreaLeft" fmla="*/ 0 w 4256280"/>
              <a:gd name="textAreaRight" fmla="*/ 4256640 w 4256280"/>
              <a:gd name="textAreaTop" fmla="*/ 0 h 2124720"/>
              <a:gd name="textAreaBottom" fmla="*/ 2125080 h 2124720"/>
            </a:gdLst>
            <a:ahLst/>
            <a:rect l="textAreaLeft" t="textAreaTop" r="textAreaRight" b="textAreaBottom"/>
            <a:pathLst>
              <a:path w="4256700" h="2125180">
                <a:moveTo>
                  <a:pt x="0" y="0"/>
                </a:moveTo>
                <a:lnTo>
                  <a:pt x="4256700" y="0"/>
                </a:lnTo>
                <a:lnTo>
                  <a:pt x="4256700" y="2125181"/>
                </a:lnTo>
                <a:lnTo>
                  <a:pt x="0" y="2125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reeform 5"/>
          <p:cNvSpPr/>
          <p:nvPr/>
        </p:nvSpPr>
        <p:spPr>
          <a:xfrm>
            <a:off x="1028880" y="4938840"/>
            <a:ext cx="4256280" cy="2361960"/>
          </a:xfrm>
          <a:custGeom>
            <a:avLst/>
            <a:gdLst>
              <a:gd name="textAreaLeft" fmla="*/ 0 w 4256280"/>
              <a:gd name="textAreaRight" fmla="*/ 4256640 w 4256280"/>
              <a:gd name="textAreaTop" fmla="*/ 0 h 2361960"/>
              <a:gd name="textAreaBottom" fmla="*/ 2362320 h 2361960"/>
            </a:gdLst>
            <a:ahLst/>
            <a:rect l="textAreaLeft" t="textAreaTop" r="textAreaRight" b="textAreaBottom"/>
            <a:pathLst>
              <a:path w="4256700" h="2362469">
                <a:moveTo>
                  <a:pt x="0" y="0"/>
                </a:moveTo>
                <a:lnTo>
                  <a:pt x="4256700" y="0"/>
                </a:lnTo>
                <a:lnTo>
                  <a:pt x="4256700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Freeform 6"/>
          <p:cNvSpPr/>
          <p:nvPr/>
        </p:nvSpPr>
        <p:spPr>
          <a:xfrm>
            <a:off x="7202880" y="2280600"/>
            <a:ext cx="3881880" cy="2124720"/>
          </a:xfrm>
          <a:custGeom>
            <a:avLst/>
            <a:gdLst>
              <a:gd name="textAreaLeft" fmla="*/ 0 w 3881880"/>
              <a:gd name="textAreaRight" fmla="*/ 3882240 w 3881880"/>
              <a:gd name="textAreaTop" fmla="*/ 0 h 2124720"/>
              <a:gd name="textAreaBottom" fmla="*/ 2125080 h 2124720"/>
            </a:gdLst>
            <a:ahLst/>
            <a:rect l="textAreaLeft" t="textAreaTop" r="textAreaRight" b="textAreaBottom"/>
            <a:pathLst>
              <a:path w="3882254" h="2125180">
                <a:moveTo>
                  <a:pt x="0" y="0"/>
                </a:moveTo>
                <a:lnTo>
                  <a:pt x="3882254" y="0"/>
                </a:lnTo>
                <a:lnTo>
                  <a:pt x="3882254" y="2125180"/>
                </a:lnTo>
                <a:lnTo>
                  <a:pt x="0" y="21251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Freeform 7"/>
          <p:cNvSpPr/>
          <p:nvPr/>
        </p:nvSpPr>
        <p:spPr>
          <a:xfrm>
            <a:off x="7202880" y="4938840"/>
            <a:ext cx="3881880" cy="2361960"/>
          </a:xfrm>
          <a:custGeom>
            <a:avLst/>
            <a:gdLst>
              <a:gd name="textAreaLeft" fmla="*/ 0 w 3881880"/>
              <a:gd name="textAreaRight" fmla="*/ 3882240 w 3881880"/>
              <a:gd name="textAreaTop" fmla="*/ 0 h 2361960"/>
              <a:gd name="textAreaBottom" fmla="*/ 2362320 h 2361960"/>
            </a:gdLst>
            <a:ahLst/>
            <a:rect l="textAreaLeft" t="textAreaTop" r="textAreaRight" b="textAreaBottom"/>
            <a:pathLst>
              <a:path w="3882254" h="2362469">
                <a:moveTo>
                  <a:pt x="0" y="0"/>
                </a:moveTo>
                <a:lnTo>
                  <a:pt x="3882254" y="0"/>
                </a:lnTo>
                <a:lnTo>
                  <a:pt x="3882254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Freeform 8"/>
          <p:cNvSpPr/>
          <p:nvPr/>
        </p:nvSpPr>
        <p:spPr>
          <a:xfrm>
            <a:off x="13062960" y="4938840"/>
            <a:ext cx="4199760" cy="2361960"/>
          </a:xfrm>
          <a:custGeom>
            <a:avLst/>
            <a:gdLst>
              <a:gd name="textAreaLeft" fmla="*/ 0 w 4199760"/>
              <a:gd name="textAreaRight" fmla="*/ 4200120 w 4199760"/>
              <a:gd name="textAreaTop" fmla="*/ 0 h 2361960"/>
              <a:gd name="textAreaBottom" fmla="*/ 2362320 h 2361960"/>
            </a:gdLst>
            <a:ahLst/>
            <a:rect l="textAreaLeft" t="textAreaTop" r="textAreaRight" b="textAreaBottom"/>
            <a:pathLst>
              <a:path w="4199944" h="2362469">
                <a:moveTo>
                  <a:pt x="0" y="0"/>
                </a:moveTo>
                <a:lnTo>
                  <a:pt x="4199944" y="0"/>
                </a:lnTo>
                <a:lnTo>
                  <a:pt x="4199944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Freeform 9"/>
          <p:cNvSpPr/>
          <p:nvPr/>
        </p:nvSpPr>
        <p:spPr>
          <a:xfrm>
            <a:off x="1028880" y="7825320"/>
            <a:ext cx="4256280" cy="2038680"/>
          </a:xfrm>
          <a:custGeom>
            <a:avLst/>
            <a:gdLst>
              <a:gd name="textAreaLeft" fmla="*/ 0 w 4256280"/>
              <a:gd name="textAreaRight" fmla="*/ 4256640 w 4256280"/>
              <a:gd name="textAreaTop" fmla="*/ 0 h 2038680"/>
              <a:gd name="textAreaBottom" fmla="*/ 2039040 h 2038680"/>
            </a:gdLst>
            <a:ahLst/>
            <a:rect l="textAreaLeft" t="textAreaTop" r="textAreaRight" b="textAreaBottom"/>
            <a:pathLst>
              <a:path w="4256700" h="2039176">
                <a:moveTo>
                  <a:pt x="0" y="0"/>
                </a:moveTo>
                <a:lnTo>
                  <a:pt x="4256700" y="0"/>
                </a:lnTo>
                <a:lnTo>
                  <a:pt x="4256700" y="2039176"/>
                </a:lnTo>
                <a:lnTo>
                  <a:pt x="0" y="20391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Freeform 10"/>
          <p:cNvSpPr/>
          <p:nvPr/>
        </p:nvSpPr>
        <p:spPr>
          <a:xfrm>
            <a:off x="7202880" y="7650720"/>
            <a:ext cx="3881880" cy="2388240"/>
          </a:xfrm>
          <a:custGeom>
            <a:avLst/>
            <a:gdLst>
              <a:gd name="textAreaLeft" fmla="*/ 0 w 3881880"/>
              <a:gd name="textAreaRight" fmla="*/ 3882240 w 3881880"/>
              <a:gd name="textAreaTop" fmla="*/ 0 h 2388240"/>
              <a:gd name="textAreaBottom" fmla="*/ 2388600 h 2388240"/>
            </a:gdLst>
            <a:ahLst/>
            <a:rect l="textAreaLeft" t="textAreaTop" r="textAreaRight" b="textAreaBottom"/>
            <a:pathLst>
              <a:path w="3882254" h="2388601">
                <a:moveTo>
                  <a:pt x="0" y="0"/>
                </a:moveTo>
                <a:lnTo>
                  <a:pt x="3882254" y="0"/>
                </a:lnTo>
                <a:lnTo>
                  <a:pt x="3882254" y="2388601"/>
                </a:lnTo>
                <a:lnTo>
                  <a:pt x="0" y="23886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Freeform 11"/>
          <p:cNvSpPr/>
          <p:nvPr/>
        </p:nvSpPr>
        <p:spPr>
          <a:xfrm>
            <a:off x="13062960" y="7676640"/>
            <a:ext cx="4199760" cy="2361960"/>
          </a:xfrm>
          <a:custGeom>
            <a:avLst/>
            <a:gdLst>
              <a:gd name="textAreaLeft" fmla="*/ 0 w 4199760"/>
              <a:gd name="textAreaRight" fmla="*/ 4200120 w 4199760"/>
              <a:gd name="textAreaTop" fmla="*/ 0 h 2361960"/>
              <a:gd name="textAreaBottom" fmla="*/ 2362320 h 2361960"/>
            </a:gdLst>
            <a:ahLst/>
            <a:rect l="textAreaLeft" t="textAreaTop" r="textAreaRight" b="textAreaBottom"/>
            <a:pathLst>
              <a:path w="4199944" h="2362469">
                <a:moveTo>
                  <a:pt x="0" y="0"/>
                </a:moveTo>
                <a:lnTo>
                  <a:pt x="4199944" y="0"/>
                </a:lnTo>
                <a:lnTo>
                  <a:pt x="4199944" y="2362469"/>
                </a:lnTo>
                <a:lnTo>
                  <a:pt x="0" y="23624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2"/>
          <p:cNvSpPr/>
          <p:nvPr/>
        </p:nvSpPr>
        <p:spPr>
          <a:xfrm>
            <a:off x="4248720" y="495360"/>
            <a:ext cx="9790200" cy="10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00"/>
              </a:lnSpc>
              <a:tabLst>
                <a:tab algn="l" pos="0"/>
              </a:tabLst>
            </a:pPr>
            <a:r>
              <a:rPr b="1" lang="en-US" sz="6910" spc="-1" strike="noStrike">
                <a:solidFill>
                  <a:srgbClr val="f4f6fc"/>
                </a:solidFill>
                <a:latin typeface="Roboto Bold"/>
                <a:ea typeface="Roboto Bold"/>
              </a:rPr>
              <a:t>Tecnologías utilizadas</a:t>
            </a:r>
            <a:endParaRPr b="0" lang="es-CL" sz="691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2"/>
          <p:cNvSpPr/>
          <p:nvPr/>
        </p:nvSpPr>
        <p:spPr>
          <a:xfrm>
            <a:off x="5936400" y="495360"/>
            <a:ext cx="6843600" cy="10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300"/>
              </a:lnSpc>
              <a:tabLst>
                <a:tab algn="l" pos="0"/>
              </a:tabLst>
            </a:pPr>
            <a:r>
              <a:rPr b="1" lang="en-US" sz="6910" spc="-1" strike="noStrike">
                <a:solidFill>
                  <a:srgbClr val="f4f6fc"/>
                </a:solidFill>
                <a:latin typeface="Roboto Bold"/>
                <a:ea typeface="Roboto Bold"/>
              </a:rPr>
              <a:t>Demostración</a:t>
            </a:r>
            <a:endParaRPr b="0" lang="es-CL" sz="69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Freeform 3">
            <a:hlinkClick r:id="rId1"/>
          </p:cNvPr>
          <p:cNvSpPr/>
          <p:nvPr/>
        </p:nvSpPr>
        <p:spPr>
          <a:xfrm>
            <a:off x="5652000" y="2050200"/>
            <a:ext cx="6983640" cy="6983640"/>
          </a:xfrm>
          <a:custGeom>
            <a:avLst/>
            <a:gdLst>
              <a:gd name="textAreaLeft" fmla="*/ 0 w 6983640"/>
              <a:gd name="textAreaRight" fmla="*/ 6984000 w 6983640"/>
              <a:gd name="textAreaTop" fmla="*/ 0 h 6983640"/>
              <a:gd name="textAreaBottom" fmla="*/ 6984000 h 6983640"/>
            </a:gdLst>
            <a:ahLst/>
            <a:rect l="textAreaLeft" t="textAreaTop" r="textAreaRight" b="textAreaBottom"/>
            <a:pathLst>
              <a:path w="6983992" h="6983992">
                <a:moveTo>
                  <a:pt x="0" y="0"/>
                </a:moveTo>
                <a:lnTo>
                  <a:pt x="6983992" y="0"/>
                </a:lnTo>
                <a:lnTo>
                  <a:pt x="6983992" y="6983992"/>
                </a:lnTo>
                <a:lnTo>
                  <a:pt x="0" y="69839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2"/>
          <p:cNvSpPr/>
          <p:nvPr/>
        </p:nvSpPr>
        <p:spPr>
          <a:xfrm rot="19701600">
            <a:off x="12719520" y="-4023360"/>
            <a:ext cx="8773920" cy="8795880"/>
          </a:xfrm>
          <a:custGeom>
            <a:avLst/>
            <a:gdLst>
              <a:gd name="textAreaLeft" fmla="*/ 0 w 8773920"/>
              <a:gd name="textAreaRight" fmla="*/ 8774280 w 8773920"/>
              <a:gd name="textAreaTop" fmla="*/ 0 h 8795880"/>
              <a:gd name="textAreaBottom" fmla="*/ 8796240 h 8795880"/>
            </a:gdLst>
            <a:ahLst/>
            <a:rect l="textAreaLeft" t="textAreaTop" r="textAreaRight" b="textAreaBottom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3" name="Group 3"/>
          <p:cNvGrpSpPr/>
          <p:nvPr/>
        </p:nvGrpSpPr>
        <p:grpSpPr>
          <a:xfrm>
            <a:off x="483480" y="2086920"/>
            <a:ext cx="6217920" cy="6217920"/>
            <a:chOff x="483480" y="2086920"/>
            <a:chExt cx="6217920" cy="6217920"/>
          </a:xfrm>
        </p:grpSpPr>
        <p:sp>
          <p:nvSpPr>
            <p:cNvPr id="194" name="Freeform 4"/>
            <p:cNvSpPr/>
            <p:nvPr/>
          </p:nvSpPr>
          <p:spPr>
            <a:xfrm>
              <a:off x="483480" y="2086920"/>
              <a:ext cx="6217920" cy="6217920"/>
            </a:xfrm>
            <a:custGeom>
              <a:avLst/>
              <a:gdLst>
                <a:gd name="textAreaLeft" fmla="*/ 0 w 6217920"/>
                <a:gd name="textAreaRight" fmla="*/ 6218280 w 6217920"/>
                <a:gd name="textAreaTop" fmla="*/ 0 h 6217920"/>
                <a:gd name="textAreaBottom" fmla="*/ 6218280 h 621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TextBox 5"/>
            <p:cNvSpPr/>
            <p:nvPr/>
          </p:nvSpPr>
          <p:spPr>
            <a:xfrm>
              <a:off x="1066320" y="2305440"/>
              <a:ext cx="5051880" cy="541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64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96" name="Group 6"/>
          <p:cNvGrpSpPr/>
          <p:nvPr/>
        </p:nvGrpSpPr>
        <p:grpSpPr>
          <a:xfrm>
            <a:off x="741240" y="2364120"/>
            <a:ext cx="5685480" cy="5688360"/>
            <a:chOff x="741240" y="2364120"/>
            <a:chExt cx="5685480" cy="5688360"/>
          </a:xfrm>
        </p:grpSpPr>
        <p:sp>
          <p:nvSpPr>
            <p:cNvPr id="197" name="Freeform 7"/>
            <p:cNvSpPr/>
            <p:nvPr/>
          </p:nvSpPr>
          <p:spPr>
            <a:xfrm>
              <a:off x="741240" y="2364120"/>
              <a:ext cx="5685480" cy="5688360"/>
            </a:xfrm>
            <a:custGeom>
              <a:avLst/>
              <a:gdLst>
                <a:gd name="textAreaLeft" fmla="*/ 0 w 5685480"/>
                <a:gd name="textAreaRight" fmla="*/ 5685840 w 5685480"/>
                <a:gd name="textAreaTop" fmla="*/ 0 h 5688360"/>
                <a:gd name="textAreaBottom" fmla="*/ 5688720 h 5688360"/>
              </a:gdLst>
              <a:ahLst/>
              <a:rect l="textAreaLeft" t="textAreaTop" r="textAreaRight" b="textAreaBottom"/>
              <a:pathLst>
                <a:path w="6489446" h="6493002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" name="Group 8"/>
          <p:cNvGrpSpPr/>
          <p:nvPr/>
        </p:nvGrpSpPr>
        <p:grpSpPr>
          <a:xfrm>
            <a:off x="6701760" y="5544360"/>
            <a:ext cx="1991520" cy="1749240"/>
            <a:chOff x="6701760" y="5544360"/>
            <a:chExt cx="1991520" cy="1749240"/>
          </a:xfrm>
        </p:grpSpPr>
        <p:sp>
          <p:nvSpPr>
            <p:cNvPr id="199" name="Freeform 9"/>
            <p:cNvSpPr/>
            <p:nvPr/>
          </p:nvSpPr>
          <p:spPr>
            <a:xfrm>
              <a:off x="6701760" y="5544360"/>
              <a:ext cx="1991520" cy="1749240"/>
            </a:xfrm>
            <a:custGeom>
              <a:avLst/>
              <a:gdLst>
                <a:gd name="textAreaLeft" fmla="*/ 0 w 1991520"/>
                <a:gd name="textAreaRight" fmla="*/ 1991880 w 1991520"/>
                <a:gd name="textAreaTop" fmla="*/ 0 h 1749240"/>
                <a:gd name="textAreaBottom" fmla="*/ 1749600 h 1749240"/>
              </a:gdLst>
              <a:ahLst/>
              <a:rect l="textAreaLeft" t="textAreaTop" r="textAreaRight" b="textAreaBottom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" name="Group 10"/>
          <p:cNvGrpSpPr/>
          <p:nvPr/>
        </p:nvGrpSpPr>
        <p:grpSpPr>
          <a:xfrm>
            <a:off x="6701760" y="2986920"/>
            <a:ext cx="1991520" cy="1749960"/>
            <a:chOff x="6701760" y="2986920"/>
            <a:chExt cx="1991520" cy="1749960"/>
          </a:xfrm>
        </p:grpSpPr>
        <p:sp>
          <p:nvSpPr>
            <p:cNvPr id="201" name="Freeform 11"/>
            <p:cNvSpPr/>
            <p:nvPr/>
          </p:nvSpPr>
          <p:spPr>
            <a:xfrm>
              <a:off x="6701760" y="2986920"/>
              <a:ext cx="1991520" cy="1749960"/>
            </a:xfrm>
            <a:custGeom>
              <a:avLst/>
              <a:gdLst>
                <a:gd name="textAreaLeft" fmla="*/ 0 w 1991520"/>
                <a:gd name="textAreaRight" fmla="*/ 1991880 w 1991520"/>
                <a:gd name="textAreaTop" fmla="*/ 0 h 1749960"/>
                <a:gd name="textAreaBottom" fmla="*/ 1750320 h 1749960"/>
              </a:gdLst>
              <a:ahLst/>
              <a:rect l="textAreaLeft" t="textAreaTop" r="textAreaRight" b="textAreaBottom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Group 12"/>
          <p:cNvGrpSpPr/>
          <p:nvPr/>
        </p:nvGrpSpPr>
        <p:grpSpPr>
          <a:xfrm>
            <a:off x="5404320" y="843840"/>
            <a:ext cx="1757880" cy="1797120"/>
            <a:chOff x="5404320" y="843840"/>
            <a:chExt cx="1757880" cy="1797120"/>
          </a:xfrm>
        </p:grpSpPr>
        <p:sp>
          <p:nvSpPr>
            <p:cNvPr id="203" name="Freeform 13"/>
            <p:cNvSpPr/>
            <p:nvPr/>
          </p:nvSpPr>
          <p:spPr>
            <a:xfrm>
              <a:off x="5404320" y="843840"/>
              <a:ext cx="1757880" cy="1797120"/>
            </a:xfrm>
            <a:custGeom>
              <a:avLst/>
              <a:gdLst>
                <a:gd name="textAreaLeft" fmla="*/ 0 w 1757880"/>
                <a:gd name="textAreaRight" fmla="*/ 1758240 w 1757880"/>
                <a:gd name="textAreaTop" fmla="*/ 0 h 1797120"/>
                <a:gd name="textAreaBottom" fmla="*/ 1797480 h 1797120"/>
              </a:gdLst>
              <a:ahLst/>
              <a:rect l="textAreaLeft" t="textAreaTop" r="textAreaRight" b="textAreaBottom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4" name="TextBox 14"/>
          <p:cNvSpPr/>
          <p:nvPr/>
        </p:nvSpPr>
        <p:spPr>
          <a:xfrm>
            <a:off x="928800" y="4818240"/>
            <a:ext cx="5310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09"/>
              </a:lnSpc>
              <a:tabLst>
                <a:tab algn="l" pos="0"/>
              </a:tabLst>
            </a:pPr>
            <a:r>
              <a:rPr b="0" lang="en-US" sz="5670" spc="-1" strike="noStrike">
                <a:solidFill>
                  <a:srgbClr val="ffffff"/>
                </a:solidFill>
                <a:latin typeface="Montserrat"/>
                <a:ea typeface="Montserrat"/>
              </a:rPr>
              <a:t>Obstáculos</a:t>
            </a:r>
            <a:endParaRPr b="0" lang="es-CL" sz="5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5"/>
          <p:cNvSpPr/>
          <p:nvPr/>
        </p:nvSpPr>
        <p:spPr>
          <a:xfrm>
            <a:off x="7316640" y="990720"/>
            <a:ext cx="4348800" cy="12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48"/>
              </a:lnSpc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Incompatibilidad con la modalidad del stack inicial (Django/Ionic).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6"/>
          <p:cNvSpPr/>
          <p:nvPr/>
        </p:nvSpPr>
        <p:spPr>
          <a:xfrm>
            <a:off x="8884080" y="3305520"/>
            <a:ext cx="453636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48"/>
              </a:lnSpc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Falta de conocimiento para el proceso de testing.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17"/>
          <p:cNvSpPr/>
          <p:nvPr/>
        </p:nvSpPr>
        <p:spPr>
          <a:xfrm>
            <a:off x="8969760" y="5877000"/>
            <a:ext cx="512676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48"/>
              </a:lnSpc>
              <a:tabLst>
                <a:tab algn="l" pos="0"/>
              </a:tabLst>
            </a:pPr>
            <a:r>
              <a:rPr b="0" lang="en-US" sz="2390" spc="-1" strike="noStrike">
                <a:solidFill>
                  <a:srgbClr val="101010"/>
                </a:solidFill>
                <a:latin typeface="Montserrat"/>
                <a:ea typeface="Montserrat"/>
              </a:rPr>
              <a:t>Fallo en la estimación de tiempo original.</a:t>
            </a:r>
            <a:endParaRPr b="0" lang="es-CL" sz="23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8" name="Group 18"/>
          <p:cNvGrpSpPr/>
          <p:nvPr/>
        </p:nvGrpSpPr>
        <p:grpSpPr>
          <a:xfrm>
            <a:off x="6054480" y="5686200"/>
            <a:ext cx="457560" cy="457560"/>
            <a:chOff x="6054480" y="5686200"/>
            <a:chExt cx="457560" cy="457560"/>
          </a:xfrm>
        </p:grpSpPr>
        <p:sp>
          <p:nvSpPr>
            <p:cNvPr id="209" name="Freeform 19"/>
            <p:cNvSpPr/>
            <p:nvPr/>
          </p:nvSpPr>
          <p:spPr>
            <a:xfrm>
              <a:off x="6054480" y="5686200"/>
              <a:ext cx="457560" cy="457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57560"/>
                <a:gd name="textAreaBottom" fmla="*/ 457920 h 4575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cap="sq" w="381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TextBox 20"/>
            <p:cNvSpPr/>
            <p:nvPr/>
          </p:nvSpPr>
          <p:spPr>
            <a:xfrm>
              <a:off x="6097320" y="5702400"/>
              <a:ext cx="37152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64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1" name="Group 21"/>
          <p:cNvGrpSpPr/>
          <p:nvPr/>
        </p:nvGrpSpPr>
        <p:grpSpPr>
          <a:xfrm>
            <a:off x="6054480" y="4121280"/>
            <a:ext cx="457560" cy="457560"/>
            <a:chOff x="6054480" y="4121280"/>
            <a:chExt cx="457560" cy="457560"/>
          </a:xfrm>
        </p:grpSpPr>
        <p:sp>
          <p:nvSpPr>
            <p:cNvPr id="212" name="Freeform 22"/>
            <p:cNvSpPr/>
            <p:nvPr/>
          </p:nvSpPr>
          <p:spPr>
            <a:xfrm>
              <a:off x="6054480" y="4121280"/>
              <a:ext cx="457560" cy="457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57560"/>
                <a:gd name="textAreaBottom" fmla="*/ 457920 h 4575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cap="sq" w="381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TextBox 23"/>
            <p:cNvSpPr/>
            <p:nvPr/>
          </p:nvSpPr>
          <p:spPr>
            <a:xfrm>
              <a:off x="6097320" y="4137480"/>
              <a:ext cx="37152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64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4" name="Group 24"/>
          <p:cNvGrpSpPr/>
          <p:nvPr/>
        </p:nvGrpSpPr>
        <p:grpSpPr>
          <a:xfrm>
            <a:off x="5099760" y="2758320"/>
            <a:ext cx="457560" cy="457560"/>
            <a:chOff x="5099760" y="2758320"/>
            <a:chExt cx="457560" cy="457560"/>
          </a:xfrm>
        </p:grpSpPr>
        <p:sp>
          <p:nvSpPr>
            <p:cNvPr id="215" name="Freeform 25"/>
            <p:cNvSpPr/>
            <p:nvPr/>
          </p:nvSpPr>
          <p:spPr>
            <a:xfrm>
              <a:off x="5099760" y="2758320"/>
              <a:ext cx="457560" cy="457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57560"/>
                <a:gd name="textAreaBottom" fmla="*/ 457920 h 4575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/>
            </a:gradFill>
            <a:ln cap="sq" w="381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TextBox 26"/>
            <p:cNvSpPr/>
            <p:nvPr/>
          </p:nvSpPr>
          <p:spPr>
            <a:xfrm>
              <a:off x="5142600" y="2774160"/>
              <a:ext cx="37152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64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7" name="Freeform 27"/>
          <p:cNvSpPr/>
          <p:nvPr/>
        </p:nvSpPr>
        <p:spPr>
          <a:xfrm rot="19701600">
            <a:off x="-1987200" y="8094960"/>
            <a:ext cx="4891320" cy="4903560"/>
          </a:xfrm>
          <a:custGeom>
            <a:avLst/>
            <a:gdLst>
              <a:gd name="textAreaLeft" fmla="*/ 0 w 4891320"/>
              <a:gd name="textAreaRight" fmla="*/ 4891680 w 4891320"/>
              <a:gd name="textAreaTop" fmla="*/ 0 h 4903560"/>
              <a:gd name="textAreaBottom" fmla="*/ 4903920 h 4903560"/>
            </a:gdLst>
            <a:ahLst/>
            <a:rect l="textAreaLeft" t="textAreaTop" r="textAreaRight" b="textAreaBottom"/>
            <a:pathLst>
              <a:path w="4891502" h="490376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Freeform 2"/>
          <p:cNvSpPr/>
          <p:nvPr/>
        </p:nvSpPr>
        <p:spPr>
          <a:xfrm rot="19701600">
            <a:off x="13299480" y="507564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Freeform 3"/>
          <p:cNvSpPr/>
          <p:nvPr/>
        </p:nvSpPr>
        <p:spPr>
          <a:xfrm rot="19701600">
            <a:off x="-3785040" y="-3899160"/>
            <a:ext cx="8700480" cy="8722440"/>
          </a:xfrm>
          <a:custGeom>
            <a:avLst/>
            <a:gdLst>
              <a:gd name="textAreaLeft" fmla="*/ 0 w 8700480"/>
              <a:gd name="textAreaRight" fmla="*/ 8700840 w 8700480"/>
              <a:gd name="textAreaTop" fmla="*/ 0 h 8722440"/>
              <a:gd name="textAreaBottom" fmla="*/ 8722800 h 8722440"/>
            </a:gdLst>
            <a:ahLst/>
            <a:rect l="textAreaLeft" t="textAreaTop" r="textAreaRight" b="textAreaBottom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5580000" y="3991680"/>
            <a:ext cx="7733880" cy="15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509"/>
              </a:lnSpc>
            </a:pPr>
            <a:r>
              <a:rPr b="1" lang="en-US" sz="1043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Preguntas </a:t>
            </a:r>
            <a:endParaRPr b="0" lang="es-CL" sz="10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DAG5GYorC9M</dc:identifier>
  <dc:language>es-CL</dc:language>
  <cp:lastModifiedBy/>
  <dcterms:modified xsi:type="dcterms:W3CDTF">2025-12-08T19:54:33Z</dcterms:modified>
  <cp:revision>2</cp:revision>
  <dc:subject/>
  <dc:title>Proyecto_Capstone_Ofisync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